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il V. Jampana" userId="3bde905e-9ba6-4462-b94a-e70689c356b2" providerId="ADAL" clId="{1F908625-DD89-4C22-BEA8-0AC114FDE546}"/>
    <pc:docChg chg="modSld">
      <pc:chgData name="Sunil V. Jampana" userId="3bde905e-9ba6-4462-b94a-e70689c356b2" providerId="ADAL" clId="{1F908625-DD89-4C22-BEA8-0AC114FDE546}" dt="2026-09-09T02:48:07.785" v="5" actId="1076"/>
      <pc:docMkLst>
        <pc:docMk/>
      </pc:docMkLst>
      <pc:sldChg chg="modSp mod">
        <pc:chgData name="Sunil V. Jampana" userId="3bde905e-9ba6-4462-b94a-e70689c356b2" providerId="ADAL" clId="{1F908625-DD89-4C22-BEA8-0AC114FDE546}" dt="2026-09-09T02:48:07.785" v="5" actId="1076"/>
        <pc:sldMkLst>
          <pc:docMk/>
          <pc:sldMk cId="0" sldId="260"/>
        </pc:sldMkLst>
        <pc:spChg chg="mod">
          <ac:chgData name="Sunil V. Jampana" userId="3bde905e-9ba6-4462-b94a-e70689c356b2" providerId="ADAL" clId="{1F908625-DD89-4C22-BEA8-0AC114FDE546}" dt="2026-09-09T02:48:07.785" v="5" actId="1076"/>
          <ac:spMkLst>
            <pc:docMk/>
            <pc:sldMk cId="0" sldId="260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26C6DA"/>
                </a:solidFill>
                <a:latin typeface="Aptos"/>
              </a:rPr>
              <a:t>SHIPGEN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500" b="1">
                <a:solidFill>
                  <a:srgbClr val="F5F8FC"/>
                </a:solidFill>
                <a:latin typeface="Aptos"/>
              </a:rPr>
              <a:t>THE INTELLIGENCE LAYER
FOR MODERN FLEETS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54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ABBBCC"/>
                </a:solidFill>
                <a:latin typeface="Aptos"/>
              </a:rPr>
              <a:t>Turn fleet data into decisions, action and ROI.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74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BD291"/>
                </a:solidFill>
                <a:latin typeface="Aptos"/>
              </a:rPr>
              <a:t>GPS  •  ELD  •  TMS  •  Maintenance  •  Fuel  • 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BBBCC"/>
                </a:solidFill>
                <a:latin typeface="Aptos"/>
              </a:rPr>
              <a:t>SHIPGEN  |  Fleet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BBBC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F5F8FC"/>
                </a:solidFill>
                <a:latin typeface="Aptos"/>
              </a:rPr>
              <a:t>The Fleet Data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BBBCC"/>
                </a:solidFill>
                <a:latin typeface="Aptos"/>
              </a:rPr>
              <a:t>Fleet operators already have systems. The problem is fragmented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12080" cy="150876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GPS / 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8463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Location, mileage, driver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212080" cy="150876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TMS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8463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Loads, dispatch,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212080" cy="150876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5021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Maintenance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48463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Service, repairs, downtime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337560"/>
            <a:ext cx="5212080" cy="150876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5021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Fuel / 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31920"/>
            <a:ext cx="48463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Fuel, invoices, operating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26C6DA"/>
                </a:solidFill>
                <a:latin typeface="Aptos"/>
              </a:rPr>
              <a:t>DATA EXISTS.
INTELLIGENCE IS MISSING.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BBBCC"/>
                </a:solidFill>
                <a:latin typeface="Aptos"/>
              </a:rPr>
              <a:t>SHIPGEN  |  Fleet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BBBC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The ShipGen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BBBCC"/>
                </a:solidFill>
                <a:latin typeface="Aptos"/>
              </a:rPr>
              <a:t>One management intelligence layer across the existing fleet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971800" cy="621792"/>
          </a:xfrm>
          <a:prstGeom prst="roundRect">
            <a:avLst/>
          </a:prstGeom>
          <a:solidFill>
            <a:srgbClr val="0F1F31"/>
          </a:solidFill>
          <a:ln>
            <a:solidFill>
              <a:srgbClr val="A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BBBCC"/>
                </a:solidFill>
                <a:latin typeface="Aptos"/>
              </a:rPr>
              <a:t>GPS / 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260604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Existing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76272"/>
            <a:ext cx="2971800" cy="621792"/>
          </a:xfrm>
          <a:prstGeom prst="roundRect">
            <a:avLst/>
          </a:prstGeom>
          <a:solidFill>
            <a:srgbClr val="0F1F31"/>
          </a:solidFill>
          <a:ln>
            <a:solidFill>
              <a:srgbClr val="A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340864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BBBCC"/>
                </a:solidFill>
                <a:latin typeface="Aptos"/>
              </a:rPr>
              <a:t>TMS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70632"/>
            <a:ext cx="260604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Existing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980944"/>
            <a:ext cx="2971800" cy="621792"/>
          </a:xfrm>
          <a:prstGeom prst="roundRect">
            <a:avLst/>
          </a:prstGeom>
          <a:solidFill>
            <a:srgbClr val="0F1F31"/>
          </a:solidFill>
          <a:ln>
            <a:solidFill>
              <a:srgbClr val="A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6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BBBCC"/>
                </a:solidFill>
                <a:latin typeface="Aptos"/>
              </a:rPr>
              <a:t>Maintenance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75303"/>
            <a:ext cx="260604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Existing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785616"/>
            <a:ext cx="2971800" cy="621792"/>
          </a:xfrm>
          <a:prstGeom prst="roundRect">
            <a:avLst/>
          </a:prstGeom>
          <a:solidFill>
            <a:srgbClr val="0F1F31"/>
          </a:solidFill>
          <a:ln>
            <a:solidFill>
              <a:srgbClr val="A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950208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BBBCC"/>
                </a:solidFill>
                <a:latin typeface="Aptos"/>
              </a:rPr>
              <a:t>Fuel / 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9976"/>
            <a:ext cx="260604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Existing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90288"/>
            <a:ext cx="2971800" cy="621792"/>
          </a:xfrm>
          <a:prstGeom prst="roundRect">
            <a:avLst/>
          </a:prstGeom>
          <a:solidFill>
            <a:srgbClr val="0F1F31"/>
          </a:solidFill>
          <a:ln>
            <a:solidFill>
              <a:srgbClr val="A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754879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BBBCC"/>
                </a:solidFill>
                <a:latin typeface="Aptos"/>
              </a:rPr>
              <a:t>Telematics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84648"/>
            <a:ext cx="260604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Existing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1874519"/>
            <a:ext cx="3566160" cy="237744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20391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SHIPGEN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468879"/>
            <a:ext cx="3200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Normalize
Analyze
Detect
Recommend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1325880"/>
            <a:ext cx="3200400" cy="914400"/>
          </a:xfrm>
          <a:prstGeom prst="roundRect">
            <a:avLst/>
          </a:prstGeom>
          <a:solidFill>
            <a:srgbClr val="0F1F31"/>
          </a:solidFill>
          <a:ln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1490472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4BD291"/>
                </a:solidFill>
                <a:latin typeface="Aptos"/>
              </a:rPr>
              <a:t>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1920240"/>
            <a:ext cx="283464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What matters now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2468880"/>
            <a:ext cx="3200400" cy="914400"/>
          </a:xfrm>
          <a:prstGeom prst="roundRect">
            <a:avLst/>
          </a:prstGeom>
          <a:solidFill>
            <a:srgbClr val="0F1F31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2633472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AB40"/>
                </a:solidFill>
                <a:latin typeface="Aptos"/>
              </a:rPr>
              <a:t>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063240"/>
            <a:ext cx="283464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What needs attention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611880"/>
            <a:ext cx="3200400" cy="91440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200" y="3776472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206240"/>
            <a:ext cx="283464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What to do 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4864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F8FC"/>
                </a:solidFill>
                <a:latin typeface="Aptos"/>
              </a:rPr>
              <a:t>DATA  →  INTELLIGENCE  → 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BBBCC"/>
                </a:solidFill>
                <a:latin typeface="Aptos"/>
              </a:rPr>
              <a:t>SHIPGEN  |  Fleet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BBBC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What ShipGen Understands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BBBCC"/>
                </a:solidFill>
                <a:latin typeface="Aptos"/>
              </a:rPr>
              <a:t>Move beyond tracking individual data 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12080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Maintenance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8463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Upcoming service • recurring repairs • maintenance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212080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AB40"/>
                </a:solidFill>
                <a:latin typeface="Aptos"/>
              </a:rPr>
              <a:t>Downtime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8463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Hours down • reasons • recurring failures • lost availability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0440"/>
            <a:ext cx="5212080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6850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4BD291"/>
                </a:solidFill>
                <a:latin typeface="Aptos"/>
              </a:rPr>
              <a:t>Utilization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14800"/>
            <a:ext cx="48463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Active vs idle • capacity • vehicle productivity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20440"/>
            <a:ext cx="5212080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6850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Cost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48463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Cost/vehicle • cost/mile • trends • asset economics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BBBCC"/>
                </a:solidFill>
                <a:latin typeface="Aptos"/>
              </a:rPr>
              <a:t>SHIPGEN  |  Fleet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BBBC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From Data to a Business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2926080" cy="3246120"/>
          </a:xfrm>
          <a:prstGeom prst="roundRect">
            <a:avLst/>
          </a:prstGeom>
          <a:solidFill>
            <a:srgbClr val="0F1F31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2763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AB40"/>
                </a:solidFill>
                <a:latin typeface="Aptos"/>
              </a:rPr>
              <a:t>TRUCK #103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256032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52 hrs downtime
$7,900 maintenance
61% utilization
3 repair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7328" y="2468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26C6DA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017520" cy="324612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62763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SHIPGEN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7784" y="2084832"/>
            <a:ext cx="298094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F5F8FC"/>
                </a:solidFill>
                <a:latin typeface="Aptos"/>
              </a:rPr>
              <a:t>Vehicle is significantly underperforming </a:t>
            </a:r>
            <a:endParaRPr lang="en-US" sz="1300" b="0" dirty="0">
              <a:solidFill>
                <a:srgbClr val="F5F8FC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F5F8FC"/>
                </a:solidFill>
                <a:latin typeface="Aptos"/>
              </a:rPr>
              <a:t>the fleet average.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468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26C6DA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63040"/>
            <a:ext cx="3154680" cy="3246120"/>
          </a:xfrm>
          <a:prstGeom prst="roundRect">
            <a:avLst/>
          </a:prstGeom>
          <a:solidFill>
            <a:srgbClr val="0F1F31"/>
          </a:solidFill>
          <a:ln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627632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4BD291"/>
                </a:solidFill>
                <a:latin typeface="Aptos"/>
              </a:rPr>
              <a:t>RECOMMENDED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057400"/>
            <a:ext cx="278892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Review recurring repairs
Check replacement economics
Prioritize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BBBCC"/>
                </a:solidFill>
                <a:latin typeface="Aptos"/>
              </a:rPr>
              <a:t>SHIPGEN  |  Fleet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BBBC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The Executive Fleet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BBBCC"/>
                </a:solidFill>
                <a:latin typeface="Aptos"/>
              </a:rPr>
              <a:t>Answers the questions owners and managers actually care about.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50876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58191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30632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Vehicles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429000" cy="150876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58191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30632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429000" cy="150876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58191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30632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3429000" cy="150876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41071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87%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840480"/>
            <a:ext cx="30632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Utilization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246120"/>
            <a:ext cx="3429000" cy="1508760"/>
          </a:xfrm>
          <a:prstGeom prst="roundRect">
            <a:avLst/>
          </a:prstGeom>
          <a:solidFill>
            <a:srgbClr val="0F1F31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41071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AB40"/>
                </a:solidFill>
                <a:latin typeface="Aptos"/>
              </a:rPr>
              <a:t>$42.8K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840480"/>
            <a:ext cx="30632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Maintenance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246120"/>
            <a:ext cx="3429000" cy="1508760"/>
          </a:xfrm>
          <a:prstGeom prst="roundRect">
            <a:avLst/>
          </a:prstGeom>
          <a:solidFill>
            <a:srgbClr val="0F1F31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341071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AB40"/>
                </a:solidFill>
                <a:latin typeface="Aptos"/>
              </a:rPr>
              <a:t>126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840480"/>
            <a:ext cx="30632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Downtime hrs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AB40"/>
                </a:solidFill>
                <a:latin typeface="Aptos"/>
              </a:rPr>
              <a:t>Vehicles requiring attention: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349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4BD291"/>
                </a:solidFill>
                <a:latin typeface="Aptos"/>
              </a:rPr>
              <a:t>Potential savings opportunities: $18.4K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BBBCC"/>
                </a:solidFill>
                <a:latin typeface="Aptos"/>
              </a:rPr>
              <a:t>SHIPGEN  |  Fleet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BBBC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Don't Replace Your Existing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BBBCC"/>
                </a:solidFill>
                <a:latin typeface="Aptos"/>
              </a:rPr>
              <a:t>ShipGen is designed to sit above the fleet technology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1645920"/>
          </a:xfrm>
          <a:prstGeom prst="roundRect">
            <a:avLst/>
          </a:prstGeom>
          <a:solidFill>
            <a:srgbClr val="0F1F31"/>
          </a:solidFill>
          <a:ln>
            <a:solidFill>
              <a:srgbClr val="A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BBBCC"/>
                </a:solidFill>
                <a:latin typeface="Aptos"/>
              </a:rPr>
              <a:t>KEEP GPS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Continue tracking vehicles and collecting telematics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1645920"/>
          </a:xfrm>
          <a:prstGeom prst="roundRect">
            <a:avLst/>
          </a:prstGeom>
          <a:solidFill>
            <a:srgbClr val="0F1F31"/>
          </a:solidFill>
          <a:ln>
            <a:solidFill>
              <a:srgbClr val="A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5819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BBBCC"/>
                </a:solidFill>
                <a:latin typeface="Aptos"/>
              </a:rPr>
              <a:t>KEEP 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Continue compliance and driver-hour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29000"/>
            <a:ext cx="5212080" cy="1645920"/>
          </a:xfrm>
          <a:prstGeom prst="roundRect">
            <a:avLst/>
          </a:prstGeom>
          <a:solidFill>
            <a:srgbClr val="0F1F31"/>
          </a:solidFill>
          <a:ln>
            <a:solidFill>
              <a:srgbClr val="A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5935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BBBCC"/>
                </a:solidFill>
                <a:latin typeface="Aptos"/>
              </a:rPr>
              <a:t>KEEP TMS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Continue dispatch, loads and routing.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29000"/>
            <a:ext cx="5212080" cy="1645920"/>
          </a:xfrm>
          <a:prstGeom prst="roundRect">
            <a:avLst/>
          </a:prstGeom>
          <a:solidFill>
            <a:srgbClr val="0F1F31"/>
          </a:solidFill>
          <a:ln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5935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4BD291"/>
                </a:solidFill>
                <a:latin typeface="Aptos"/>
              </a:rPr>
              <a:t>ADD SHIPGEN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02336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Connect the management picture and surface actionable intelligence.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48640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26C6DA"/>
                </a:solidFill>
                <a:latin typeface="Aptos"/>
              </a:rPr>
              <a:t>“Keep your systems. Add intelligence.”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BBBCC"/>
                </a:solidFill>
                <a:latin typeface="Aptos"/>
              </a:rPr>
              <a:t>SHIPGEN  |  Fleet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BBBC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Who Is ShipGen For?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BBBCC"/>
                </a:solidFill>
                <a:latin typeface="Aptos"/>
              </a:rPr>
              <a:t>Best initial fit: operationally complex fleets with 30–200 vehicles.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55448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58191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Trucking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306324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Fleet operations + asset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429000" cy="155448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58191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HVAC / Mechanical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306324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Fleet operations + asset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429000" cy="155448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58191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Landscaping / Snow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306324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Fleet operations + asset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3429000" cy="155448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50215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931920"/>
            <a:ext cx="306324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Fleet operations + asset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337560"/>
            <a:ext cx="3429000" cy="155448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50215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Field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931920"/>
            <a:ext cx="306324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Fleet operations + asset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337560"/>
            <a:ext cx="3429000" cy="155448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350215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Delivery / Waste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931920"/>
            <a:ext cx="306324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Fleet operations + asset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54864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4BD291"/>
                </a:solidFill>
                <a:latin typeface="Aptos"/>
              </a:rPr>
              <a:t>Sweet spot: 30–200 vehicles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BBBCC"/>
                </a:solidFill>
                <a:latin typeface="Aptos"/>
              </a:rPr>
              <a:t>SHIPGEN  |  Fleet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BBBC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The ROI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BBBCC"/>
                </a:solidFill>
                <a:latin typeface="Aptos"/>
              </a:rPr>
              <a:t>ShipGen focuses management attention on measurable fleet economics.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1645920"/>
          </a:xfrm>
          <a:prstGeom prst="roundRect">
            <a:avLst/>
          </a:prstGeom>
          <a:solidFill>
            <a:srgbClr val="0F1F31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AB40"/>
                </a:solidFill>
                <a:latin typeface="Aptos"/>
              </a:rPr>
              <a:t>↓ DOWNTIME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More vehicles available for productive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164592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5819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↓ MAINTENANCE WASTE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Earlier visibility into recurring repair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29000"/>
            <a:ext cx="5212080" cy="1645920"/>
          </a:xfrm>
          <a:prstGeom prst="roundRect">
            <a:avLst/>
          </a:prstGeom>
          <a:solidFill>
            <a:srgbClr val="0F1F31"/>
          </a:solidFill>
          <a:ln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5935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4BD291"/>
                </a:solidFill>
                <a:latin typeface="Aptos"/>
              </a:rPr>
              <a:t>↑ UTILIZATION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Identify underused assets and capacity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29000"/>
            <a:ext cx="5212080" cy="164592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5935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↓ ADMIN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02336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Less manual reporting across disconnected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486400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F8FC"/>
                </a:solidFill>
                <a:latin typeface="Aptos"/>
              </a:rPr>
              <a:t>Measure → Identify → Act → Improve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BBBCC"/>
                </a:solidFill>
                <a:latin typeface="Aptos"/>
              </a:rPr>
              <a:t>SHIPGEN  |  Fleet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BBBC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ShipGen vs. Traditional Fleet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BBBCC"/>
                </a:solidFill>
                <a:latin typeface="Aptos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41732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Scattered across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417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D291"/>
                </a:solidFill>
                <a:latin typeface="Aptos"/>
              </a:rPr>
              <a:t>Unified management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BBBCC"/>
                </a:solidFill>
                <a:latin typeface="Aptos"/>
              </a:rPr>
              <a:t>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402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Reactive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40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D291"/>
                </a:solidFill>
                <a:latin typeface="Aptos"/>
              </a:rPr>
              <a:t>Proactive / insight-driven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BBBCC"/>
                </a:solidFill>
                <a:latin typeface="Aptos"/>
              </a:rPr>
              <a:t>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6324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63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D291"/>
                </a:solidFill>
                <a:latin typeface="Aptos"/>
              </a:rPr>
              <a:t>Automated / centralized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BBBCC"/>
                </a:solidFill>
                <a:latin typeface="Aptos"/>
              </a:rPr>
              <a:t>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8862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Where is the vehicle?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886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D291"/>
                </a:solidFill>
                <a:latin typeface="Aptos"/>
              </a:rPr>
              <a:t>What does the vehicle mean to the business?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BBBCC"/>
                </a:solidFill>
                <a:latin typeface="Aptos"/>
              </a:rPr>
              <a:t>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7091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709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D291"/>
                </a:solidFill>
                <a:latin typeface="Aptos"/>
              </a:rPr>
              <a:t>Decision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BBBCC"/>
                </a:solidFill>
                <a:latin typeface="Aptos"/>
              </a:rPr>
              <a:t>SHIPGEN  |  Fleet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BBBC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The Product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BBBCC"/>
                </a:solidFill>
                <a:latin typeface="Aptos"/>
              </a:rPr>
              <a:t>From reporting what happened → to recommending what should happen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103120" cy="228600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105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737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Fleet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6352" y="1645920"/>
            <a:ext cx="2103120" cy="228600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18105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240280"/>
            <a:ext cx="1737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Normalize + analyze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75504" y="1645920"/>
            <a:ext cx="2103120" cy="2286000"/>
          </a:xfrm>
          <a:prstGeom prst="roundRect">
            <a:avLst/>
          </a:prstGeom>
          <a:solidFill>
            <a:srgbClr val="0F1F31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58384" y="18105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ptos"/>
              </a:rP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8384" y="2240280"/>
            <a:ext cx="1737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Find exceptions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4656" y="1645920"/>
            <a:ext cx="2103120" cy="2286000"/>
          </a:xfrm>
          <a:prstGeom prst="roundRect">
            <a:avLst/>
          </a:prstGeom>
          <a:solidFill>
            <a:srgbClr val="0F1F31"/>
          </a:solidFill>
          <a:ln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7536" y="18105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4BD291"/>
                </a:solidFill>
                <a:latin typeface="Aptos"/>
              </a:rP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2240280"/>
            <a:ext cx="1737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Identify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93808" y="1645920"/>
            <a:ext cx="2103120" cy="2286000"/>
          </a:xfrm>
          <a:prstGeom prst="roundRect">
            <a:avLst/>
          </a:prstGeom>
          <a:solidFill>
            <a:srgbClr val="0F1F31"/>
          </a:solidFill>
          <a:ln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76688" y="18105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4BD291"/>
                </a:solidFill>
                <a:latin typeface="Aptos"/>
              </a:rP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6688" y="2240280"/>
            <a:ext cx="1737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Recommend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3035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4BD291"/>
                </a:solidFill>
                <a:latin typeface="Aptos"/>
              </a:rPr>
              <a:t>The long-term goal: predictive fleet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BBBCC"/>
                </a:solidFill>
                <a:latin typeface="Aptos"/>
              </a:rPr>
              <a:t>SHIPGEN  |  Fleet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BBBC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26C6DA"/>
                </a:solidFill>
                <a:latin typeface="Aptos"/>
              </a:rPr>
              <a:t>SHIPGEN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875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"/>
              </a:rPr>
              <a:t>YOUR FLEET ALREADY
GENERATES THE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4BD291"/>
                </a:solidFill>
                <a:latin typeface="Aptos"/>
              </a:rPr>
              <a:t>SHIPGEN TURNS THAT DATA INTO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BBBCC"/>
                </a:solidFill>
                <a:latin typeface="Aptos"/>
              </a:rPr>
              <a:t>Know what is happening.
Know why it is happening.
Know what to do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7150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6C6DA"/>
                </a:solidFill>
                <a:latin typeface="Aptos"/>
              </a:rPr>
              <a:t>shipgen.net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BBBCC"/>
                </a:solidFill>
                <a:latin typeface="Aptos"/>
              </a:rPr>
              <a:t>SHIPGEN  |  Fleet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BBBC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641</Words>
  <Application>Microsoft Office PowerPoint</Application>
  <PresentationFormat>Widescreen</PresentationFormat>
  <Paragraphs>167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Sunil V. Jampana</cp:lastModifiedBy>
  <cp:revision>2</cp:revision>
  <dcterms:created xsi:type="dcterms:W3CDTF">2013-01-27T09:14:16Z</dcterms:created>
  <dcterms:modified xsi:type="dcterms:W3CDTF">2026-09-09T02:48:13Z</dcterms:modified>
  <cp:category/>
</cp:coreProperties>
</file>